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728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000000"/>
                </a:solidFill>
                <a:latin typeface="Arial"/>
              </a:rPr>
              <a:t>Stop, Verify, or Explore?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88036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>
                <a:solidFill>
                  <a:srgbClr val="000000"/>
                </a:solidFill>
                <a:latin typeface="Arial"/>
              </a:rPr>
              <a:t>State-Aware Value-of-Compute Routing for Autoregressive LLM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8006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5A5A5A"/>
                </a:solidFill>
                <a:latin typeface="Arial"/>
              </a:rPr>
              <a:t>GSM8K · Qwen2.5-1.5B / 3B · STOP / VERIFY / SC-3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9788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0000"/>
                </a:solidFill>
                <a:latin typeface="Arial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39"/>
              </a:spcAft>
              <a:defRPr sz="2900">
                <a:solidFill>
                  <a:srgbClr val="000000"/>
                </a:solidFill>
                <a:latin typeface="Arial"/>
              </a:defRPr>
            </a:pPr>
            <a:r>
              <a:t>Reasoning 문제마다 필요한 test-time compute가 다르다.</a:t>
            </a:r>
          </a:p>
          <a:p>
            <a:pPr>
              <a:spcAft>
                <a:spcPts val="1739"/>
              </a:spcAft>
              <a:defRPr sz="2900">
                <a:solidFill>
                  <a:srgbClr val="000000"/>
                </a:solidFill>
                <a:latin typeface="Arial"/>
              </a:defRPr>
            </a:pPr>
            <a:r>
              <a:t>항상 더 많이 생성하면 accuracy는 오를 수 있지만 token cost가 커진다.</a:t>
            </a:r>
          </a:p>
          <a:p>
            <a:pPr>
              <a:spcAft>
                <a:spcPts val="1739"/>
              </a:spcAft>
              <a:defRPr sz="2900">
                <a:solidFill>
                  <a:srgbClr val="000000"/>
                </a:solidFill>
                <a:latin typeface="Arial"/>
              </a:defRPr>
            </a:pPr>
            <a:r>
              <a:t>핵심 질문: 현재 reasoning state를 보고 extra compute를 쓸지 결정할 수 있는가?</a:t>
            </a:r>
          </a:p>
          <a:p>
            <a:pPr>
              <a:spcAft>
                <a:spcPts val="1739"/>
              </a:spcAft>
              <a:defRPr sz="2900">
                <a:solidFill>
                  <a:srgbClr val="000000"/>
                </a:solidFill>
                <a:latin typeface="Arial"/>
              </a:defRPr>
            </a:pPr>
            <a:r>
              <a:t>목표: accuracy–compute trade-off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0000"/>
                </a:solidFill>
                <a:latin typeface="Arial"/>
              </a:rPr>
              <a:t>Problem Setting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874519"/>
            <a:ext cx="1828800" cy="914400"/>
          </a:xfrm>
          <a:prstGeom prst="rect">
            <a:avLst/>
          </a:prstGeom>
          <a:solidFill>
            <a:srgbClr val="EBEBE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0">
                <a:latin typeface="Arial"/>
              </a:rP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79192" y="21031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>
                <a:latin typeface="Arial"/>
              </a:rPr>
              <a:t>→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6120" y="1874519"/>
            <a:ext cx="1828800" cy="914400"/>
          </a:xfrm>
          <a:prstGeom prst="rect">
            <a:avLst/>
          </a:prstGeom>
          <a:solidFill>
            <a:srgbClr val="EBEBE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0">
                <a:latin typeface="Arial"/>
              </a:rPr>
              <a:t>Initial
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48072" y="21031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>
                <a:latin typeface="Arial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1874519"/>
            <a:ext cx="1828800" cy="914400"/>
          </a:xfrm>
          <a:prstGeom prst="rect">
            <a:avLst/>
          </a:prstGeom>
          <a:solidFill>
            <a:srgbClr val="DCEB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latin typeface="Arial"/>
              </a:rPr>
              <a:t>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21031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>
                <a:latin typeface="Arial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874519"/>
            <a:ext cx="1828800" cy="914400"/>
          </a:xfrm>
          <a:prstGeom prst="rect">
            <a:avLst/>
          </a:prstGeom>
          <a:solidFill>
            <a:srgbClr val="EBEBE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0">
                <a:latin typeface="Arial"/>
              </a:rPr>
              <a:t>Final
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39"/>
              </a:spcAft>
              <a:defRPr sz="2500">
                <a:solidFill>
                  <a:srgbClr val="000000"/>
                </a:solidFill>
                <a:latin typeface="Arial"/>
              </a:defRPr>
            </a:pPr>
            <a:r>
              <a:t>Initial answer 생성 후 한 번만 routing하는 one-step setting</a:t>
            </a:r>
          </a:p>
          <a:p>
            <a:pPr>
              <a:spcAft>
                <a:spcPts val="1739"/>
              </a:spcAft>
              <a:defRPr sz="2500">
                <a:solidFill>
                  <a:srgbClr val="000000"/>
                </a:solidFill>
                <a:latin typeface="Arial"/>
              </a:defRPr>
            </a:pPr>
            <a:r>
              <a:t>Multi-step RL / MDP가 아니라 post-hoc routing 문제</a:t>
            </a:r>
          </a:p>
          <a:p>
            <a:pPr>
              <a:spcAft>
                <a:spcPts val="1739"/>
              </a:spcAft>
              <a:defRPr sz="2500">
                <a:solidFill>
                  <a:srgbClr val="000000"/>
                </a:solidFill>
                <a:latin typeface="Arial"/>
              </a:defRPr>
            </a:pPr>
            <a:r>
              <a:t>Controller는 STOP, VERIFY, SC-3 중 정확히 하나를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0000"/>
                </a:solidFill>
                <a:latin typeface="Arial"/>
              </a:rPr>
              <a:t>Method: STOP / VERIFY / SC-3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0020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0000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0000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0000"/>
                          </a:solidFill>
                          <a:latin typeface="Arial"/>
                        </a:rPr>
                        <a:t>Extra compute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</a:rPr>
                        <a:t>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</a:rPr>
                        <a:t>initial answer 그대로 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</a:rPr>
                        <a:t>VERIFY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</a:rPr>
                        <a:t>문제를 다시 풀고 기존 답과 비교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</a:rPr>
                        <a:t>1 generation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</a:rPr>
                        <a:t>SC-3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</a:rPr>
                        <a:t>추가 독립 풀이 2개 + plurality vote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</a:rPr>
                        <a:t>2 generations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68680" y="42519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39"/>
              </a:spcAft>
              <a:defRPr sz="2500">
                <a:solidFill>
                  <a:srgbClr val="000000"/>
                </a:solidFill>
                <a:latin typeface="Arial"/>
              </a:defRPr>
            </a:pPr>
            <a:r>
              <a:t>GSM8K 답변은 `Final answer: &lt;answer&gt;` 형식으로 추출</a:t>
            </a:r>
          </a:p>
          <a:p>
            <a:pPr>
              <a:spcAft>
                <a:spcPts val="1739"/>
              </a:spcAft>
              <a:defRPr sz="2500">
                <a:solidFill>
                  <a:srgbClr val="000000"/>
                </a:solidFill>
                <a:latin typeface="Arial"/>
              </a:defRPr>
            </a:pPr>
            <a:r>
              <a:t>SC-3 tie-break는 initial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9788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0000"/>
                </a:solidFill>
                <a:latin typeface="Arial"/>
              </a:rPr>
              <a:t>Oracle Router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000000"/>
                </a:solidFill>
                <a:latin typeface="Arial"/>
              </a:rPr>
              <a:t>utility(action) = correct(action) − λ · normalized_cost(action)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39"/>
              </a:spcAft>
              <a:defRPr sz="2600">
                <a:solidFill>
                  <a:srgbClr val="000000"/>
                </a:solidFill>
                <a:latin typeface="Arial"/>
              </a:defRPr>
            </a:pPr>
            <a:r>
              <a:t>각 example에서 STOP / VERIFY / SC-3의 실제 rollout 결과를 모두 사용</a:t>
            </a:r>
          </a:p>
          <a:p>
            <a:pPr>
              <a:spcAft>
                <a:spcPts val="1739"/>
              </a:spcAft>
              <a:defRPr sz="2600">
                <a:solidFill>
                  <a:srgbClr val="000000"/>
                </a:solidFill>
                <a:latin typeface="Arial"/>
              </a:defRPr>
            </a:pPr>
            <a:r>
              <a:t>Oracle action = utility가 가장 큰 action</a:t>
            </a:r>
          </a:p>
          <a:p>
            <a:pPr>
              <a:spcAft>
                <a:spcPts val="1739"/>
              </a:spcAft>
              <a:defRPr sz="2600">
                <a:solidFill>
                  <a:srgbClr val="000000"/>
                </a:solidFill>
                <a:latin typeface="Arial"/>
              </a:defRPr>
            </a:pPr>
            <a:r>
              <a:t>Learned controller가 도달할 수 있는 upper bound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9788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0000"/>
                </a:solidFill>
                <a:latin typeface="Arial"/>
              </a:rPr>
              <a:t>Learned Controllers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39"/>
              </a:spcAft>
              <a:defRPr sz="2600">
                <a:solidFill>
                  <a:srgbClr val="000000"/>
                </a:solidFill>
                <a:latin typeface="Arial"/>
              </a:defRPr>
            </a:pPr>
            <a:r>
              <a:t>Input/state-aware features: question length, numeric tokens, initial trace length, token counts</a:t>
            </a:r>
          </a:p>
          <a:p>
            <a:pPr>
              <a:spcAft>
                <a:spcPts val="1739"/>
              </a:spcAft>
              <a:defRPr sz="2600">
                <a:solidFill>
                  <a:srgbClr val="000000"/>
                </a:solidFill>
                <a:latin typeface="Arial"/>
              </a:defRPr>
            </a:pPr>
            <a:r>
              <a:t>Oracle-action classifier: LogisticRegression / RandomForest</a:t>
            </a:r>
          </a:p>
          <a:p>
            <a:pPr>
              <a:spcAft>
                <a:spcPts val="1739"/>
              </a:spcAft>
              <a:defRPr sz="2600">
                <a:solidFill>
                  <a:srgbClr val="000000"/>
                </a:solidFill>
                <a:latin typeface="Arial"/>
              </a:defRPr>
            </a:pPr>
            <a:r>
              <a:t>Validation calibration: extra-compute confidence threshold 조정</a:t>
            </a:r>
          </a:p>
          <a:p>
            <a:pPr>
              <a:spcAft>
                <a:spcPts val="1739"/>
              </a:spcAft>
              <a:defRPr sz="2600">
                <a:solidFill>
                  <a:srgbClr val="000000"/>
                </a:solidFill>
                <a:latin typeface="Arial"/>
              </a:defRPr>
            </a:pPr>
            <a:r>
              <a:t>Value predictor: action별 correctness와 cost를 예측 후 utility 최대 action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0000"/>
                </a:solidFill>
                <a:latin typeface="Arial"/>
              </a:rPr>
              <a:t>Main Result: 1.5B, 300 Examples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417320"/>
          <a:ext cx="1078991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4371"/>
                <a:gridCol w="2301849"/>
                <a:gridCol w="2301849"/>
                <a:gridCol w="2301849"/>
              </a:tblGrid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0000"/>
                          </a:solidFill>
                          <a:latin typeface="Arial"/>
                        </a:rPr>
                        <a:t>Method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0000"/>
                          </a:solidFill>
                          <a:latin typeface="Arial"/>
                        </a:rPr>
                        <a:t>Acc.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0000"/>
                          </a:solidFill>
                          <a:latin typeface="Arial"/>
                        </a:rPr>
                        <a:t>Avg tokens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0000"/>
                          </a:solidFill>
                          <a:latin typeface="Arial"/>
                        </a:rPr>
                        <a:t>Utility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Always 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0.253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299.68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0.222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Always VERIFY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0.370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916.16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0.275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Always SC-3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0.287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966.53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0.187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Oracle Router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0.473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435.65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0.428</a:t>
                      </a:r>
                    </a:p>
                  </a:txBody>
                  <a:tcPr/>
                </a:tc>
              </a:tr>
              <a:tr h="509451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RF calibrated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0.430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484.83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0.380</a:t>
                      </a:r>
                    </a:p>
                  </a:txBody>
                  <a:tcPr/>
                </a:tc>
              </a:tr>
              <a:tr h="509454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Value predictor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0.400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778.28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0.319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68680" y="548640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Arial"/>
              </a:rPr>
              <a:t>Oracle improves STOP accuracy 0.253 → 0.473; learned RF recovers much of the gain.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9788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0000"/>
                </a:solidFill>
                <a:latin typeface="Arial"/>
              </a:rPr>
              <a:t>Model Comparison: 1.5B vs 3B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508760"/>
          <a:ext cx="1097279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0208"/>
                <a:gridCol w="1404518"/>
                <a:gridCol w="1404518"/>
                <a:gridCol w="1404518"/>
                <a:gridCol w="1404518"/>
                <a:gridCol w="1404518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0000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0000"/>
                          </a:solidFill>
                          <a:latin typeface="Arial"/>
                        </a:rPr>
                        <a:t>STOP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0000"/>
                          </a:solidFill>
                          <a:latin typeface="Arial"/>
                        </a:rPr>
                        <a:t>VERIFY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0000"/>
                          </a:solidFill>
                          <a:latin typeface="Arial"/>
                        </a:rPr>
                        <a:t>SC-3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0000"/>
                          </a:solidFill>
                          <a:latin typeface="Arial"/>
                        </a:rPr>
                        <a:t>Oracle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000000"/>
                          </a:solidFill>
                          <a:latin typeface="Arial"/>
                        </a:rPr>
                        <a:t>Best Ctrl</a:t>
                      </a:r>
                    </a:p>
                  </a:txBody>
                  <a:tcPr>
                    <a:solidFill>
                      <a:srgbClr val="EBEBE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Qwen2.5-1.5B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0.290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0.440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0.320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0.530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0.470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Qwen2.5-3B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0.320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0.540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0.340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0.600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00000"/>
                          </a:solidFill>
                          <a:latin typeface="Arial"/>
                        </a:rPr>
                        <a:t>0.540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68680" y="3931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39"/>
              </a:spcAft>
              <a:defRPr sz="2600">
                <a:solidFill>
                  <a:srgbClr val="000000"/>
                </a:solidFill>
                <a:latin typeface="Arial"/>
              </a:defRPr>
            </a:pPr>
            <a:r>
              <a:t>동일한 100 shuffled GSM8K examples 기준 비교</a:t>
            </a:r>
          </a:p>
          <a:p>
            <a:pPr>
              <a:spcAft>
                <a:spcPts val="1739"/>
              </a:spcAft>
              <a:defRPr sz="2600">
                <a:solidFill>
                  <a:srgbClr val="000000"/>
                </a:solidFill>
                <a:latin typeface="Arial"/>
              </a:defRPr>
            </a:pPr>
            <a:r>
              <a:t>3B는 STOP / VERIFY / Oracle / best controller 모두 향상</a:t>
            </a:r>
          </a:p>
          <a:p>
            <a:pPr>
              <a:spcAft>
                <a:spcPts val="1739"/>
              </a:spcAft>
              <a:defRPr sz="2600">
                <a:solidFill>
                  <a:srgbClr val="000000"/>
                </a:solidFill>
                <a:latin typeface="Arial"/>
              </a:defRPr>
            </a:pPr>
            <a:r>
              <a:t>VERIFY gain이 가장 큼: 0.440 → 0.540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9788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0000"/>
                </a:solidFill>
                <a:latin typeface="Arial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39"/>
              </a:spcAft>
              <a:defRPr sz="2600">
                <a:solidFill>
                  <a:srgbClr val="000000"/>
                </a:solidFill>
                <a:latin typeface="Arial"/>
              </a:defRPr>
            </a:pPr>
            <a:r>
              <a:t>Dataset은 GSM8K 중심: MATH500 등 cross-dataset 검증은 남음</a:t>
            </a:r>
          </a:p>
          <a:p>
            <a:pPr>
              <a:spcAft>
                <a:spcPts val="1739"/>
              </a:spcAft>
              <a:defRPr sz="2600">
                <a:solidFill>
                  <a:srgbClr val="000000"/>
                </a:solidFill>
                <a:latin typeface="Arial"/>
              </a:defRPr>
            </a:pPr>
            <a:r>
              <a:t>3B는 100 examples라 test split variance가 큼</a:t>
            </a:r>
          </a:p>
          <a:p>
            <a:pPr>
              <a:spcAft>
                <a:spcPts val="1739"/>
              </a:spcAft>
              <a:defRPr sz="2600">
                <a:solidFill>
                  <a:srgbClr val="000000"/>
                </a:solidFill>
                <a:latin typeface="Arial"/>
              </a:defRPr>
            </a:pPr>
            <a:r>
              <a:t>Entropy / token log-probability feature는 아직 미구현</a:t>
            </a:r>
          </a:p>
          <a:p>
            <a:pPr>
              <a:spcAft>
                <a:spcPts val="1739"/>
              </a:spcAft>
              <a:defRPr sz="2600">
                <a:solidFill>
                  <a:srgbClr val="000000"/>
                </a:solidFill>
                <a:latin typeface="Arial"/>
              </a:defRPr>
            </a:pPr>
            <a:r>
              <a:t>Oracle labels are imbalanced: 대부분 STOP이 optimal</a:t>
            </a:r>
          </a:p>
          <a:p>
            <a:pPr>
              <a:spcAft>
                <a:spcPts val="1739"/>
              </a:spcAft>
              <a:defRPr sz="2600">
                <a:solidFill>
                  <a:srgbClr val="000000"/>
                </a:solidFill>
                <a:latin typeface="Arial"/>
              </a:defRPr>
            </a:pPr>
            <a:r>
              <a:t>SC-3만 실험: SC-5 이상에서는 다른 양상이 가능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788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39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Extra compute는 모든 문제에 필요한 것은 아니지만, 일부 문제에서는 큰 gain을 만든다.</a:t>
            </a:r>
          </a:p>
          <a:p>
            <a:pPr>
              <a:spcAft>
                <a:spcPts val="1739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Oracle routing은 STOP 대비 큰 accuracy/utility 개선을 보인다.</a:t>
            </a:r>
          </a:p>
          <a:p>
            <a:pPr>
              <a:spcAft>
                <a:spcPts val="1739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Learned controller는 calibration과 model choice에 민감하지만 일부 이득을 회복한다.</a:t>
            </a:r>
          </a:p>
          <a:p>
            <a:pPr>
              <a:spcAft>
                <a:spcPts val="1739"/>
              </a:spcAft>
              <a:defRPr sz="2800">
                <a:solidFill>
                  <a:srgbClr val="000000"/>
                </a:solidFill>
                <a:latin typeface="Arial"/>
              </a:defRPr>
            </a:pPr>
            <a:r>
              <a:t>Multiple models에서도 value-of-compute signal이 유지된다.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5321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563EB"/>
                </a:solidFill>
                <a:latin typeface="Arial"/>
              </a:rPr>
              <a:t>Takeaway: Stop when enough, verify when useful, explore only selectively.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97880" y="6537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